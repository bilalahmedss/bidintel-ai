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DM Sans Medium"/>
      <p:regular r:id="rId20"/>
    </p:embeddedFont>
    <p:embeddedFont>
      <p:font typeface="DM Sans Medium"/>
      <p:regular r:id="rId21"/>
    </p:embeddedFont>
    <p:embeddedFont>
      <p:font typeface="DM Sans Medium"/>
      <p:regular r:id="rId22"/>
    </p:embeddedFont>
    <p:embeddedFont>
      <p:font typeface="DM Sans Medium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514124"/>
            <a:ext cx="2526149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2581275"/>
            <a:ext cx="22727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 — 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981801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7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BidIntel AI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93790" y="45198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bid intelligence workspace for professional bid analysis, response drafting, and governance controls.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5110163"/>
            <a:ext cx="13042821" cy="14883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539781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Rameez Wasif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Bilal Ahmed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Ammar Murtaza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29646"/>
            <a:ext cx="1550313" cy="373142"/>
          </a:xfrm>
          <a:prstGeom prst="roundRect">
            <a:avLst>
              <a:gd name="adj" fmla="val 6383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989177"/>
            <a:ext cx="131218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382083"/>
            <a:ext cx="83808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Bidding on RFPs is a Manual Gamble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29981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Firms in IT, development, and advisory burn thousands of hours parsing dense tender documents — only to be disqualified by hidden clauses or mismatched technical weightage.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158139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158139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4379357"/>
            <a:ext cx="32279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Thousands of Manual Hours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83588" y="4808577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Spent parsing complex RFPs that may not even be winnable — a colossal drain on team capacity before a single word is written.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4158139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4158139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4379357"/>
            <a:ext cx="31182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Hidden Poison-Pill Clauses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7235" y="4808577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Buried deep in documents, these clauses derail bids before submission — invisible to teams under time pressure.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4158139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98343" y="4158139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16" name="Text 14"/>
          <p:cNvSpPr/>
          <p:nvPr/>
        </p:nvSpPr>
        <p:spPr>
          <a:xfrm>
            <a:off x="9911001" y="4379357"/>
            <a:ext cx="30532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Gut-Feel Bid/No-Bid Calls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11001" y="4808577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made without evidence waste team capacity on unwinnable pursuits and starve competitive bids of attention.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50864"/>
            <a:ext cx="1559123" cy="373142"/>
          </a:xfrm>
          <a:prstGeom prst="roundRect">
            <a:avLst>
              <a:gd name="adj" fmla="val 6383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210395"/>
            <a:ext cx="132099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MARKET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60330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Who It's For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5210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bid teams that need to scale their bidding footprint without scaling overhead.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061817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7930" y="40618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IT Services Firms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37930" y="4491038"/>
            <a:ext cx="343804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P@SHA / PSEB members and software houses bidding on international digital transformation projects where technical scoring is complex and unforgiving.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4061817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68127" y="4061817"/>
            <a:ext cx="32908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Development Consultancies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968127" y="4491038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Firms competing for World Bank, ADB, and USAID tenders where eligibility rules are ruthless and disqualification is one missed clause away.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4061817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98443" y="4061817"/>
            <a:ext cx="343816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Corporate &amp; Financial Advisory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0398443" y="4801195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firms — McKinsey, EY, Deloitte and peers — managing complex public-sector and multi-national bids across jurisdictions.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39478"/>
            <a:ext cx="1493520" cy="373142"/>
          </a:xfrm>
          <a:prstGeom prst="roundRect">
            <a:avLst>
              <a:gd name="adj" fmla="val 6383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599009"/>
            <a:ext cx="125539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PRODUCT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9191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Solution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0964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BidIntel AI scouts, scores, and audits every tender. Upload an RFP and your draft response — get a Win Probability Score, flagged risks, and a project-grounded AI workspace in under a minute.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767971"/>
            <a:ext cx="13042821" cy="2922032"/>
          </a:xfrm>
          <a:prstGeom prst="roundRect">
            <a:avLst>
              <a:gd name="adj" fmla="val 1019"/>
            </a:avLst>
          </a:prstGeom>
          <a:solidFill>
            <a:srgbClr val="EDEBE3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767971"/>
            <a:ext cx="6521410" cy="1461016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992148" y="39663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Parse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2148" y="4395549"/>
            <a:ext cx="58269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gates, criteria, evidence requirements, and submission rules from any RFP PDF.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0" y="3767971"/>
            <a:ext cx="6521410" cy="1461016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3767971"/>
            <a:ext cx="22860" cy="1461016"/>
          </a:xfrm>
          <a:prstGeom prst="roundRect">
            <a:avLst>
              <a:gd name="adj" fmla="val 130232"/>
            </a:avLst>
          </a:prstGeom>
          <a:solidFill>
            <a:srgbClr val="D3D1C9"/>
          </a:solidFill>
          <a:ln/>
        </p:spPr>
      </p:sp>
      <p:sp>
        <p:nvSpPr>
          <p:cNvPr id="12" name="Text 10"/>
          <p:cNvSpPr/>
          <p:nvPr/>
        </p:nvSpPr>
        <p:spPr>
          <a:xfrm>
            <a:off x="7811333" y="39663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Score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811333" y="4395549"/>
            <a:ext cx="58269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draft response against evaluation criteria, grounded in your knowledge base.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067193" y="4250353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1256" y="4374297"/>
            <a:ext cx="248007" cy="24800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93790" y="5228987"/>
            <a:ext cx="6521410" cy="1461016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7" name="Shape 14"/>
          <p:cNvSpPr/>
          <p:nvPr/>
        </p:nvSpPr>
        <p:spPr>
          <a:xfrm>
            <a:off x="793790" y="5228987"/>
            <a:ext cx="6521410" cy="22860"/>
          </a:xfrm>
          <a:prstGeom prst="roundRect">
            <a:avLst>
              <a:gd name="adj" fmla="val 130232"/>
            </a:avLst>
          </a:prstGeom>
          <a:solidFill>
            <a:srgbClr val="D3D1C9"/>
          </a:solidFill>
          <a:ln/>
        </p:spPr>
      </p:sp>
      <p:sp>
        <p:nvSpPr>
          <p:cNvPr id="18" name="Text 15"/>
          <p:cNvSpPr/>
          <p:nvPr/>
        </p:nvSpPr>
        <p:spPr>
          <a:xfrm>
            <a:off x="992148" y="5427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92148" y="5856565"/>
            <a:ext cx="58269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poison-pill clauses that create legal or commercial disqualification risk.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315200" y="5228987"/>
            <a:ext cx="6521410" cy="1461016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0" y="5228987"/>
            <a:ext cx="22860" cy="1461016"/>
          </a:xfrm>
          <a:prstGeom prst="roundRect">
            <a:avLst>
              <a:gd name="adj" fmla="val 130232"/>
            </a:avLst>
          </a:prstGeom>
          <a:solidFill>
            <a:srgbClr val="D3D1C9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0" y="5228987"/>
            <a:ext cx="6521410" cy="22860"/>
          </a:xfrm>
          <a:prstGeom prst="roundRect">
            <a:avLst>
              <a:gd name="adj" fmla="val 130232"/>
            </a:avLst>
          </a:prstGeom>
          <a:solidFill>
            <a:srgbClr val="D3D1C9"/>
          </a:solidFill>
          <a:ln/>
        </p:spPr>
      </p:sp>
      <p:sp>
        <p:nvSpPr>
          <p:cNvPr id="23" name="Text 20"/>
          <p:cNvSpPr/>
          <p:nvPr/>
        </p:nvSpPr>
        <p:spPr>
          <a:xfrm>
            <a:off x="7811333" y="5427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Decide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7811333" y="5856565"/>
            <a:ext cx="58269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deterministic Win Probability across conservative, expected, and optimistic scenarios.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7067193" y="5711369"/>
            <a:ext cx="496133" cy="496133"/>
          </a:xfrm>
          <a:prstGeom prst="roundRect">
            <a:avLst>
              <a:gd name="adj" fmla="val 6001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1256" y="5835313"/>
            <a:ext cx="248007" cy="2480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75705"/>
            <a:ext cx="3040499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942856"/>
            <a:ext cx="278713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WALKTHROUGH — 1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4338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2261116"/>
            <a:ext cx="5106829" cy="5092660"/>
          </a:xfrm>
          <a:prstGeom prst="roundRect">
            <a:avLst>
              <a:gd name="adj" fmla="val 585"/>
            </a:avLst>
          </a:prstGeom>
          <a:solidFill>
            <a:srgbClr val="28282F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4594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 Centre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2967990"/>
            <a:ext cx="471011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single-pane view of the entire bid portfolio — active pursuits, submitted bids, collaborators, and upcoming deadlines all in one place.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9273" y="4099203"/>
            <a:ext cx="4710112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health at a glance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project counts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Upcoming submission deadlines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Collaborator activity feed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06597" y="2484358"/>
            <a:ext cx="7737515" cy="3514963"/>
          </a:xfrm>
          <a:prstGeom prst="roundRect">
            <a:avLst>
              <a:gd name="adj" fmla="val 847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955" y="2787253"/>
            <a:ext cx="248007" cy="198358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20" y="2732246"/>
            <a:ext cx="6894433" cy="29446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06597" y="6222563"/>
            <a:ext cx="7737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Control Centre gives bid managers a single-pane view of their entire portfolio: active pursuits, submitted bids, collaborators, and upcoming deadlines. No more spreadsheets, no more missed submissions.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2818"/>
            <a:ext cx="3072646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709970"/>
            <a:ext cx="28192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WALKTHROUGH — 2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1049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Workspace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93790" y="2251472"/>
            <a:ext cx="7632025" cy="3980855"/>
          </a:xfrm>
          <a:prstGeom prst="roundRect">
            <a:avLst>
              <a:gd name="adj" fmla="val 748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2554367"/>
            <a:ext cx="248007" cy="19835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13" y="2499360"/>
            <a:ext cx="6788944" cy="2914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8513" y="5637014"/>
            <a:ext cx="678894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93790" y="6455569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bid lives inside a project. Upload the RFP and your draft response PDFs, invite collaborators, and the workspace becomes the single source of truth for that pursuit.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774668" y="2028230"/>
            <a:ext cx="5212318" cy="5558552"/>
          </a:xfrm>
          <a:prstGeom prst="roundRect">
            <a:avLst>
              <a:gd name="adj" fmla="val 571"/>
            </a:avLst>
          </a:prstGeom>
          <a:solidFill>
            <a:srgbClr val="28282F"/>
          </a:solidFill>
          <a:ln/>
        </p:spPr>
      </p:sp>
      <p:sp>
        <p:nvSpPr>
          <p:cNvPr id="11" name="Text 7"/>
          <p:cNvSpPr/>
          <p:nvPr/>
        </p:nvSpPr>
        <p:spPr>
          <a:xfrm>
            <a:off x="8973026" y="2226588"/>
            <a:ext cx="2556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Single Source of Truth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8973026" y="2735104"/>
            <a:ext cx="481560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workspace per bid — no scattered files, no version confusion.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973026" y="3548777"/>
            <a:ext cx="4815602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RFP and response PDFs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 collaborators by role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all artefacts in one place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project creation in seconds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2701"/>
            <a:ext cx="3073956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28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719852"/>
            <a:ext cx="282059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WALKTHROUGH — 3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2037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Analysis &amp; Scoring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50915" y="2038112"/>
            <a:ext cx="5212318" cy="5538668"/>
          </a:xfrm>
          <a:prstGeom prst="roundRect">
            <a:avLst>
              <a:gd name="adj" fmla="val 571"/>
            </a:avLst>
          </a:prstGeom>
          <a:solidFill>
            <a:srgbClr val="28282F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2364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Live Analysis Engine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9273" y="2744986"/>
            <a:ext cx="481560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stream in as they are computed — no waiting for a batch job to finish.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9273" y="3558659"/>
            <a:ext cx="4815602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selector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scenario picker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streaming results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Criteria-by-criteria breakdown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Flagged risks surfaced inline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12086" y="2261354"/>
            <a:ext cx="7632025" cy="3960971"/>
          </a:xfrm>
          <a:prstGeom prst="roundRect">
            <a:avLst>
              <a:gd name="adj" fmla="val 752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444" y="2564249"/>
            <a:ext cx="248007" cy="198358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809" y="2509242"/>
            <a:ext cx="6788944" cy="28945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6809" y="5627013"/>
            <a:ext cx="678894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212086" y="6445567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project, choose a financial scenario (conservative / expected / optimistic), and run the analysis. Results stream in live: Win Probability Score, criteria-by-criteria breakdown, and flagged risks.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3894"/>
            <a:ext cx="1166217" cy="278130"/>
          </a:xfrm>
          <a:prstGeom prst="roundRect">
            <a:avLst>
              <a:gd name="adj" fmla="val 6851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721519"/>
            <a:ext cx="97571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002744"/>
            <a:ext cx="488787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 It Works: The Pipeline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1689378"/>
            <a:ext cx="13042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PDF upload to grounded recommendation in five stages.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60853"/>
            <a:ext cx="793790" cy="9526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4500" y="221956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Ingest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14500" y="2543770"/>
            <a:ext cx="1212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PyMuPDF with optional Tesseract OCR fallback for scanned PDFs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013472"/>
            <a:ext cx="793790" cy="952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14500" y="317218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Parse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714500" y="3496389"/>
            <a:ext cx="1212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LLM extracts structured criteria, gates, and poison pills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66091"/>
            <a:ext cx="793790" cy="9526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14500" y="412480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Retrieve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714500" y="4449008"/>
            <a:ext cx="1212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 + LlamaIndex pulls relevant evidence from response and KB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918710"/>
            <a:ext cx="793790" cy="9526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14500" y="507742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Score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1714500" y="5401628"/>
            <a:ext cx="1212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evaluation of every criterion against retrieved evidence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871329"/>
            <a:ext cx="793790" cy="9526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14500" y="603003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Decide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714500" y="6354247"/>
            <a:ext cx="1212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Probability calculated across three financial scenarios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93790" y="6966823"/>
            <a:ext cx="13042821" cy="588764"/>
          </a:xfrm>
          <a:prstGeom prst="roundRect">
            <a:avLst>
              <a:gd name="adj" fmla="val 4045"/>
            </a:avLst>
          </a:prstGeom>
          <a:solidFill>
            <a:srgbClr val="B6FCB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7193875"/>
            <a:ext cx="198358" cy="15871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09568" y="7133392"/>
            <a:ext cx="123683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 Probability Score, criteria-by-criteria breakdown, poison pill alerts, and a grounded AI chat workspace.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65071"/>
            <a:ext cx="1241703" cy="348377"/>
          </a:xfrm>
          <a:prstGeom prst="roundRect">
            <a:avLst>
              <a:gd name="adj" fmla="val 6495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621625"/>
            <a:ext cx="1015484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985004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 Stack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842730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pragmatic stack chosen for speed of iteration and grounded retrieval.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3790" y="2338387"/>
            <a:ext cx="13042821" cy="5326142"/>
          </a:xfrm>
          <a:prstGeom prst="roundRect">
            <a:avLst>
              <a:gd name="adj" fmla="val 53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005" y="2461022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99259" y="2461022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90005" y="2992874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99259" y="2992874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18, TypeScript, Vite, Tailwind, TanStack Query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90005" y="3524726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99259" y="3524726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FastAPI, Python, SQLite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90005" y="4056578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99259" y="4056578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chat completions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90005" y="4588431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99259" y="4588431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SentenceTransformers all-MiniLM-L6-v2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90005" y="5120283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Store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99259" y="5120283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 (persisted on disk)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90005" y="5652135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99259" y="5652135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LlamaIndex + Chroma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90005" y="6183987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599259" y="6183987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(HS256) with PBKDF2 password hashing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90005" y="6715839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599259" y="6715839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Server-Sent Events for live analysis updates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90005" y="7247692"/>
            <a:ext cx="2224683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Extraction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99259" y="7247692"/>
            <a:ext cx="1004125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PyMuPDF with optional Tesseract OCR fallback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9967"/>
            <a:ext cx="960001" cy="255984"/>
          </a:xfrm>
          <a:prstGeom prst="roundRect">
            <a:avLst>
              <a:gd name="adj" fmla="val 6978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883087" y="734616"/>
            <a:ext cx="7814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3790" y="990600"/>
            <a:ext cx="5326618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We Built: Six Capabilities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93790" y="1623179"/>
            <a:ext cx="13042821" cy="893088"/>
          </a:xfrm>
          <a:prstGeom prst="roundRect">
            <a:avLst>
              <a:gd name="adj" fmla="val 2500"/>
            </a:avLst>
          </a:prstGeom>
          <a:solidFill>
            <a:srgbClr val="F9F8F5"/>
          </a:solidFill>
          <a:ln w="15240">
            <a:solidFill>
              <a:srgbClr val="D3D1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030" y="1638419"/>
            <a:ext cx="595313" cy="862608"/>
          </a:xfrm>
          <a:prstGeom prst="roundRect">
            <a:avLst>
              <a:gd name="adj" fmla="val 679"/>
            </a:avLst>
          </a:prstGeom>
          <a:solidFill>
            <a:srgbClr val="EDEBE3"/>
          </a:solidFill>
          <a:ln/>
        </p:spPr>
      </p:sp>
      <p:sp>
        <p:nvSpPr>
          <p:cNvPr id="7" name="Text 5"/>
          <p:cNvSpPr/>
          <p:nvPr/>
        </p:nvSpPr>
        <p:spPr>
          <a:xfrm>
            <a:off x="995005" y="1930122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515904" y="1787247"/>
            <a:ext cx="2004655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Structured RFP Parsing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15904" y="2086689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Gates, criteria, checklist signals, evidence requirements, poison pills, and submission rules extracted from any PDF.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3790" y="2627828"/>
            <a:ext cx="13042821" cy="893088"/>
          </a:xfrm>
          <a:prstGeom prst="roundRect">
            <a:avLst>
              <a:gd name="adj" fmla="val 2500"/>
            </a:avLst>
          </a:prstGeom>
          <a:solidFill>
            <a:srgbClr val="F9F8F5"/>
          </a:solidFill>
          <a:ln w="15240">
            <a:solidFill>
              <a:srgbClr val="D3D1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030" y="2643068"/>
            <a:ext cx="595313" cy="862608"/>
          </a:xfrm>
          <a:prstGeom prst="roundRect">
            <a:avLst>
              <a:gd name="adj" fmla="val 679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995005" y="2934772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515904" y="2791897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Response Scoring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15904" y="3091339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response evaluated against extracted criteria using Groq + retrieval from your knowledge base.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3790" y="3632478"/>
            <a:ext cx="13042821" cy="893088"/>
          </a:xfrm>
          <a:prstGeom prst="roundRect">
            <a:avLst>
              <a:gd name="adj" fmla="val 2500"/>
            </a:avLst>
          </a:prstGeom>
          <a:solidFill>
            <a:srgbClr val="F9F8F5"/>
          </a:solidFill>
          <a:ln w="15240">
            <a:solidFill>
              <a:srgbClr val="D3D1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030" y="3647718"/>
            <a:ext cx="595313" cy="862608"/>
          </a:xfrm>
          <a:prstGeom prst="roundRect">
            <a:avLst>
              <a:gd name="adj" fmla="val 679"/>
            </a:avLst>
          </a:prstGeom>
          <a:solidFill>
            <a:srgbClr val="EDEBE3"/>
          </a:solidFill>
          <a:ln/>
        </p:spPr>
      </p:sp>
      <p:sp>
        <p:nvSpPr>
          <p:cNvPr id="17" name="Text 15"/>
          <p:cNvSpPr/>
          <p:nvPr/>
        </p:nvSpPr>
        <p:spPr>
          <a:xfrm>
            <a:off x="995005" y="3939421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515904" y="3796546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Poison-Pill Detection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15904" y="4095988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clauses creating legal or commercial disqualification risk before they sink your submission.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3790" y="4637127"/>
            <a:ext cx="13042821" cy="893088"/>
          </a:xfrm>
          <a:prstGeom prst="roundRect">
            <a:avLst>
              <a:gd name="adj" fmla="val 2500"/>
            </a:avLst>
          </a:prstGeom>
          <a:solidFill>
            <a:srgbClr val="F9F8F5"/>
          </a:solidFill>
          <a:ln w="15240">
            <a:solidFill>
              <a:srgbClr val="D3D1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030" y="4652367"/>
            <a:ext cx="595313" cy="862608"/>
          </a:xfrm>
          <a:prstGeom prst="roundRect">
            <a:avLst>
              <a:gd name="adj" fmla="val 679"/>
            </a:avLst>
          </a:prstGeom>
          <a:solidFill>
            <a:srgbClr val="EDEBE3"/>
          </a:solidFill>
          <a:ln/>
        </p:spPr>
      </p:sp>
      <p:sp>
        <p:nvSpPr>
          <p:cNvPr id="22" name="Text 20"/>
          <p:cNvSpPr/>
          <p:nvPr/>
        </p:nvSpPr>
        <p:spPr>
          <a:xfrm>
            <a:off x="995005" y="4944070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515904" y="4801195"/>
            <a:ext cx="188642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Win Probability Score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15904" y="5100638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WPS across conservative, expected, and optimistic scenarios with full evidence trail.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3790" y="5641777"/>
            <a:ext cx="13042821" cy="893088"/>
          </a:xfrm>
          <a:prstGeom prst="roundRect">
            <a:avLst>
              <a:gd name="adj" fmla="val 2500"/>
            </a:avLst>
          </a:prstGeom>
          <a:solidFill>
            <a:srgbClr val="F9F8F5"/>
          </a:solidFill>
          <a:ln w="15240">
            <a:solidFill>
              <a:srgbClr val="D3D1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030" y="5657017"/>
            <a:ext cx="595313" cy="862608"/>
          </a:xfrm>
          <a:prstGeom prst="roundRect">
            <a:avLst>
              <a:gd name="adj" fmla="val 679"/>
            </a:avLst>
          </a:prstGeom>
          <a:solidFill>
            <a:srgbClr val="EDEBE3"/>
          </a:solidFill>
          <a:ln/>
        </p:spPr>
      </p:sp>
      <p:sp>
        <p:nvSpPr>
          <p:cNvPr id="27" name="Text 25"/>
          <p:cNvSpPr/>
          <p:nvPr/>
        </p:nvSpPr>
        <p:spPr>
          <a:xfrm>
            <a:off x="995005" y="5948720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515904" y="5805845"/>
            <a:ext cx="213276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Grounded AI Workspace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515904" y="6105287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Project-level chat assistant grounded in RFP, response artefacts, and company knowledge base.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3790" y="6646426"/>
            <a:ext cx="13042821" cy="893088"/>
          </a:xfrm>
          <a:prstGeom prst="roundRect">
            <a:avLst>
              <a:gd name="adj" fmla="val 2500"/>
            </a:avLst>
          </a:prstGeom>
          <a:solidFill>
            <a:srgbClr val="F9F8F5"/>
          </a:solidFill>
          <a:ln w="15240">
            <a:solidFill>
              <a:srgbClr val="D3D1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030" y="6661666"/>
            <a:ext cx="595313" cy="862608"/>
          </a:xfrm>
          <a:prstGeom prst="roundRect">
            <a:avLst>
              <a:gd name="adj" fmla="val 679"/>
            </a:avLst>
          </a:prstGeom>
          <a:solidFill>
            <a:srgbClr val="EDEBE3"/>
          </a:solidFill>
          <a:ln/>
        </p:spPr>
      </p:sp>
      <p:sp>
        <p:nvSpPr>
          <p:cNvPr id="32" name="Text 30"/>
          <p:cNvSpPr/>
          <p:nvPr/>
        </p:nvSpPr>
        <p:spPr>
          <a:xfrm>
            <a:off x="995005" y="6953369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515904" y="6810494"/>
            <a:ext cx="226337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Reusable Knowledge Base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515904" y="7109936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CVs, certifications, capability statements, and past proposals once — reuse forever across all bids.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30298"/>
            <a:ext cx="1595676" cy="373142"/>
          </a:xfrm>
          <a:prstGeom prst="roundRect">
            <a:avLst>
              <a:gd name="adj" fmla="val 6383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489829"/>
            <a:ext cx="135755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ENGINE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82735"/>
            <a:ext cx="60221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Win Probability Score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80046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scenarios. Deterministic math. Full evidence trail.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440430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42%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1644372" y="43434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Conservative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772620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Worst-case assumption on every uncertain criterion. The floor of your bid.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23986" y="3440430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65%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6074688" y="43434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Expected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23986" y="4772620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estimate using best-evidence matching. Use this for go/no-go decisions.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54302" y="3440430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78%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10505003" y="43434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Optimistic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54302" y="4772620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Favourable interpretation where evidence is ambiguous. The ceiling of your bid.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630942"/>
            <a:ext cx="13042821" cy="1168360"/>
          </a:xfrm>
          <a:prstGeom prst="roundRect">
            <a:avLst>
              <a:gd name="adj" fmla="val 2548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933837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5878830"/>
            <a:ext cx="12199739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Recommendation: BID WITH MITIGATION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Strong eligibility match, two critical gaps identified, no blocking poison pills detected.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9500"/>
            <a:ext cx="1339572" cy="373142"/>
          </a:xfrm>
          <a:prstGeom prst="roundRect">
            <a:avLst>
              <a:gd name="adj" fmla="val 6383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19031"/>
            <a:ext cx="110144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11937"/>
            <a:ext cx="68700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Responsible AI &amp; Governance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12967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score, every flag, every chat answer can be traced back to a source document. Backend guardrails, safety logs, and confidentiality controls are built in.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987993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2987993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3209211"/>
            <a:ext cx="30254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Retrieval-First Generation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83588" y="3638431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LLM is constrained to retrieved evidence from RFP, response, and KB. No free-form hallucination.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2987993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2987993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3209211"/>
            <a:ext cx="31740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Deterministic Scoring Math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7235" y="3638431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WPS calculation is rule-based. Same inputs always produce the same score — fully auditable.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2987993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98343" y="2987993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16" name="Text 14"/>
          <p:cNvSpPr/>
          <p:nvPr/>
        </p:nvSpPr>
        <p:spPr>
          <a:xfrm>
            <a:off x="9911001" y="3209211"/>
            <a:ext cx="29890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Confidentiality by Default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11001" y="3638431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tender, RFP, response, and KB materials treated as confidential. Queries minimised before external LLM calls.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5328166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0930" y="5328166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20" name="Text 18"/>
          <p:cNvSpPr/>
          <p:nvPr/>
        </p:nvSpPr>
        <p:spPr>
          <a:xfrm>
            <a:off x="1083588" y="5549384"/>
            <a:ext cx="34574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Safety Operations Dashboard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83588" y="5978604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monitoring of PII redactions, unsafe-output fallbacks, prompt-injection detections, and audit events.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207437" y="5328166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4577" y="5328166"/>
            <a:ext cx="91440" cy="2141815"/>
          </a:xfrm>
          <a:prstGeom prst="roundRect">
            <a:avLst>
              <a:gd name="adj" fmla="val 32558"/>
            </a:avLst>
          </a:prstGeom>
          <a:solidFill>
            <a:srgbClr val="28282F"/>
          </a:solidFill>
          <a:ln/>
        </p:spPr>
      </p:sp>
      <p:sp>
        <p:nvSpPr>
          <p:cNvPr id="24" name="Text 22"/>
          <p:cNvSpPr/>
          <p:nvPr/>
        </p:nvSpPr>
        <p:spPr>
          <a:xfrm>
            <a:off x="5497235" y="5549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Human-in-the-Loop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497235" y="5978604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BidIntel makes recommendations. The bid manager makes the call. AI augments — it does not replace — human judgement.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4295" y="259556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662005"/>
            <a:ext cx="13042821" cy="14883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949660"/>
            <a:ext cx="4215289" cy="1143476"/>
          </a:xfrm>
          <a:prstGeom prst="roundRect">
            <a:avLst>
              <a:gd name="adj" fmla="val 2604"/>
            </a:avLst>
          </a:prstGeom>
          <a:solidFill>
            <a:srgbClr val="EDEBE3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41480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Rameez Wasif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4577239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949660"/>
            <a:ext cx="4215408" cy="1143476"/>
          </a:xfrm>
          <a:prstGeom prst="roundRect">
            <a:avLst>
              <a:gd name="adj" fmla="val 2604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5405795" y="41480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Bilal Ahmed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05795" y="4577239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949660"/>
            <a:ext cx="4215289" cy="1143476"/>
          </a:xfrm>
          <a:prstGeom prst="roundRect">
            <a:avLst>
              <a:gd name="adj" fmla="val 2604"/>
            </a:avLst>
          </a:prstGeom>
          <a:solidFill>
            <a:srgbClr val="EDEBE3"/>
          </a:solidFill>
          <a:ln/>
        </p:spPr>
      </p:sp>
      <p:sp>
        <p:nvSpPr>
          <p:cNvPr id="11" name="Text 9"/>
          <p:cNvSpPr/>
          <p:nvPr/>
        </p:nvSpPr>
        <p:spPr>
          <a:xfrm>
            <a:off x="9819561" y="41480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Ammar Murtaza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19561" y="4577239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3163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github.com/bilalahmedss/BidIntel-AI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2026-04-20T10:40:56Z</dcterms:created>
  <dcterms:modified xsi:type="dcterms:W3CDTF">2026-04-20T10:40:56Z</dcterms:modified>
</cp:coreProperties>
</file>